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lus Jakarta Sans ExtraBold"/>
      <p:bold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lus Jakarta Sans"/>
      <p:regular r:id="rId29"/>
      <p:bold r:id="rId30"/>
      <p:italic r:id="rId31"/>
      <p:boldItalic r:id="rId32"/>
    </p:embeddedFont>
    <p:embeddedFont>
      <p:font typeface="Plus Jakarta Sans Medium"/>
      <p:regular r:id="rId33"/>
      <p:bold r:id="rId34"/>
      <p:italic r:id="rId35"/>
      <p:boldItalic r:id="rId36"/>
    </p:embeddedFont>
    <p:embeddedFont>
      <p:font typeface="Inter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Italic.fntdata"/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lusJakartaSansExtraBold-boldItalic.fntdata"/><Relationship Id="rId23" Type="http://schemas.openxmlformats.org/officeDocument/2006/relationships/font" Target="fonts/PlusJakartaSans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-italic.fntdata"/><Relationship Id="rId30" Type="http://schemas.openxmlformats.org/officeDocument/2006/relationships/font" Target="fonts/PlusJakartaSans-bold.fntdata"/><Relationship Id="rId11" Type="http://schemas.openxmlformats.org/officeDocument/2006/relationships/slide" Target="slides/slide6.xml"/><Relationship Id="rId33" Type="http://schemas.openxmlformats.org/officeDocument/2006/relationships/font" Target="fonts/PlusJakartaSansMedium-regular.fntdata"/><Relationship Id="rId10" Type="http://schemas.openxmlformats.org/officeDocument/2006/relationships/slide" Target="slides/slide5.xml"/><Relationship Id="rId32" Type="http://schemas.openxmlformats.org/officeDocument/2006/relationships/font" Target="fonts/PlusJakartaSans-bold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Medium-italic.fntdata"/><Relationship Id="rId12" Type="http://schemas.openxmlformats.org/officeDocument/2006/relationships/slide" Target="slides/slide7.xml"/><Relationship Id="rId34" Type="http://schemas.openxmlformats.org/officeDocument/2006/relationships/font" Target="fonts/PlusJakartaSansMedium-bold.fntdata"/><Relationship Id="rId15" Type="http://schemas.openxmlformats.org/officeDocument/2006/relationships/slide" Target="slides/slide10.xml"/><Relationship Id="rId37" Type="http://schemas.openxmlformats.org/officeDocument/2006/relationships/font" Target="fonts/InterMedium-regular.fntdata"/><Relationship Id="rId14" Type="http://schemas.openxmlformats.org/officeDocument/2006/relationships/slide" Target="slides/slide9.xml"/><Relationship Id="rId36" Type="http://schemas.openxmlformats.org/officeDocument/2006/relationships/font" Target="fonts/PlusJakartaSans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InterMedium-italic.fntdata"/><Relationship Id="rId16" Type="http://schemas.openxmlformats.org/officeDocument/2006/relationships/slide" Target="slides/slide11.xml"/><Relationship Id="rId38" Type="http://schemas.openxmlformats.org/officeDocument/2006/relationships/font" Target="fonts/InterMedium-bold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1b4017f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51b4017f9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1b4017f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f51b4017f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1b4017f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51b4017f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52334ec1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52334ec1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24125" y="2355651"/>
            <a:ext cx="7143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DEFENSA DE EXAMEN TRANSVERSAL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45531" y="2725191"/>
            <a:ext cx="7500937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Sistema Donatón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24125" y="3586162"/>
            <a:ext cx="7143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Análisis Retrospectivo y Decisiones de Ingeniería de Software (DSY1106)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24125" y="4302323"/>
            <a:ext cx="7143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PRESENTADORES: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ESTEBAN BRAVO | SILVIO PERALTA | SEBASTIÁN CARRERA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25116"/>
            <a:ext cx="3359199" cy="3388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125116"/>
            <a:ext cx="3359199" cy="3388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125116"/>
            <a:ext cx="3359199" cy="338881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66800" y="3029991"/>
            <a:ext cx="22702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Seguridad &amp; Perfil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66800" y="3458616"/>
            <a:ext cx="276864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ms-user y ms-auth: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Desacoplan completamente la lógica de autenticación JWT y el almacenamiento seguro de los datos de usuarios del resto de la lógica operativa.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11749" y="3029991"/>
            <a:ext cx="24503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Lógica del Negocio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11749" y="3458616"/>
            <a:ext cx="276864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ms-donation y ms-campaign: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Manejan de forma asíncrona y modular las campañas activas y el flujo de donaciones sin depender del estado del usuario.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56699" y="3029991"/>
            <a:ext cx="28503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Exposición &amp; Gateway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6699" y="3458616"/>
            <a:ext cx="276864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bff y api-gateway: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 Gateway unifica el tráfico externo en un puerto seguro, mientras que el BFF adapta la data reduciendo la sobrecarga de la UI.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45849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49" y="2458491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699" y="2458491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914400" y="581025"/>
            <a:ext cx="1103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M</a:t>
            </a:r>
            <a:r>
              <a:rPr b="1" lang="en-US" sz="28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icroservicios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452625"/>
            <a:ext cx="10642000" cy="40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66800" y="3029991"/>
            <a:ext cx="227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4775" y="1597351"/>
            <a:ext cx="104955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Se ha creado el sistema en microservicios por varias razones: </a:t>
            </a:r>
            <a:endParaRPr>
              <a:solidFill>
                <a:schemeClr val="lt1"/>
              </a:solidFill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</a:rPr>
              <a:t>Desacoplamiento: Cada módulo es independiente. Esto garantiza a que si en un futuro se quiere o requiere realizar algún cambio en la lógica del backend por ejemplo, el frontend no se verá afectado, debido a que este no conoce la existencia del backend ni cómo está estructurado.</a:t>
            </a:r>
            <a:endParaRPr>
              <a:solidFill>
                <a:schemeClr val="lt1"/>
              </a:solidFill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</a:rPr>
              <a:t>Alta Cohesión: Cada componente tiene una funcionalidad única. Los microservicios se encargan explícitamente de funciones definidas en ellos mismos, por ejemplo: ms-auth genera y valida los tokens JWT, mientras que el ms-user procesa los registros de nuevos usuarios y gestiona a los mismos.</a:t>
            </a:r>
            <a:endParaRPr>
              <a:solidFill>
                <a:schemeClr val="lt1"/>
              </a:solidFill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</a:rPr>
              <a:t>Escalabilidad independiente: Capacidad de escalar solo las partes del sistema que lo necesiten.</a:t>
            </a:r>
            <a:endParaRPr>
              <a:solidFill>
                <a:schemeClr val="lt1"/>
              </a:solidFill>
            </a:endParaRPr>
          </a:p>
          <a:p>
            <a:pPr indent="-3175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-"/>
            </a:pPr>
            <a:r>
              <a:rPr lang="en-US">
                <a:solidFill>
                  <a:schemeClr val="lt1"/>
                </a:solidFill>
              </a:rPr>
              <a:t>Facilidad de mantenimiento: Código más limpio, fácil de entender y de depurar.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711749" y="3029991"/>
            <a:ext cx="245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711749" y="3458616"/>
            <a:ext cx="276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6699" y="3029991"/>
            <a:ext cx="285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56699" y="3458616"/>
            <a:ext cx="276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14400" y="581025"/>
            <a:ext cx="1103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¿Por qué microservicios?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71525" y="581025"/>
            <a:ext cx="47700" cy="44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4711749" y="3029991"/>
            <a:ext cx="245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711749" y="3458616"/>
            <a:ext cx="276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356699" y="3029991"/>
            <a:ext cx="285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356699" y="3458616"/>
            <a:ext cx="276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14400" y="581025"/>
            <a:ext cx="1103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Funcionamiento del sistema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771525" y="581025"/>
            <a:ext cx="47700" cy="44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6" title="DiagramaC2copia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9675" y="1228475"/>
            <a:ext cx="9161226" cy="532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56582"/>
            <a:ext cx="5133975" cy="232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56582"/>
            <a:ext cx="5133975" cy="232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114425" y="2999482"/>
            <a:ext cx="46705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Desafío Físico Local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114425" y="3428107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Ejecutar múltiples contenedores de base de datos independientes saturaba drásticamente la memoria RAM, el disco duro y aumentaba los tiempos de compilación y arranque de WSL2 en Windows.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629400" y="2999482"/>
            <a:ext cx="46705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Solución Sostenible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629400" y="3428107"/>
            <a:ext cx="44481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Unificamos la persistencia en una instancia de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postgres-shared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Optimizamos el consumo físico manteniendo el aislamiento lógico de esquemas para cada servicio, facilitando el desarrollo local.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Sostenibilidad del Desarrollo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71525" y="2009775"/>
            <a:ext cx="539067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 Boot &amp; Gradle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71525" y="2438400"/>
            <a:ext cx="51339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uso de Gradle permitió la gestión centralizada de dependencias complejas y la construcción consistente de nuestros microservicios.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71525" y="3404145"/>
            <a:ext cx="51339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Resolución de Cuello de Botella: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Desarrollamos tareas automatizadas integradas en el entorno que purgan la caché acumulada y controlan los recursos para evitar bloqueos del procesador.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Backend Eficiente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0625" y="1240838"/>
            <a:ext cx="4617450" cy="18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9125" y="3206488"/>
            <a:ext cx="571500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914400" y="581025"/>
            <a:ext cx="51906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Reactivo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914400" y="215800"/>
            <a:ext cx="534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NextJS &amp; React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69600" y="5624850"/>
            <a:ext cx="5086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Implementamos NextJS para ofrecer una interfaz moderna y eficiente que consume los datos modelados directamente por nuestro BFF.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719725" y="5458645"/>
            <a:ext cx="50865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Optimización de Almacenamiento: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 compilar la imagen v2 del frontend, automatizamos el borrado de imágenes Docker huérfanas mediante comandos post-ejecución, manteniendo el disco estable.</a:t>
            </a: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350" y="1093550"/>
            <a:ext cx="8360050" cy="417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488" y="1338882"/>
            <a:ext cx="5133974" cy="232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463" y="1338882"/>
            <a:ext cx="5133974" cy="232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1114425" y="1507695"/>
            <a:ext cx="467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Gateway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1114425" y="2033232"/>
            <a:ext cx="44481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Centraliza la entrada del sistema. Protege y abstrae la topología interna de la red de Kubernetes, gestionando la redirección transparente de endpoints para el frontend.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629400" y="1507707"/>
            <a:ext cx="467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BFF (Backend For Frontend)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629400" y="2033232"/>
            <a:ext cx="44481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Actúa como traductor específico del cliente NextJS. Filtra información, unifica llamadas a distintos microservicios en una sola petición y alivia la computación en el cliente.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914400" y="581025"/>
            <a:ext cx="1103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Patrones de Diseño </a:t>
            </a:r>
            <a:r>
              <a:rPr b="1" lang="en-US" sz="28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 Arquitectura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771525" y="581025"/>
            <a:ext cx="47700" cy="44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13" y="4119857"/>
            <a:ext cx="5133974" cy="232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463" y="4119857"/>
            <a:ext cx="5133974" cy="232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055150" y="4251925"/>
            <a:ext cx="4448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</a:t>
            </a:r>
            <a:r>
              <a:rPr b="1" lang="en-US" sz="1950">
                <a:solidFill>
                  <a:srgbClr val="FFFF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REPOSITORY PATTERN</a:t>
            </a:r>
            <a:endParaRPr b="1" sz="1950">
              <a:solidFill>
                <a:srgbClr val="FFFF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973425" y="4657675"/>
            <a:ext cx="47301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</a:rPr>
              <a:t>Separa la lógica de acceso a datos de la lógica de negocio, de modo que la aplicación no dependa directamente de cómo se guarda o consulta la información. Esto hace el código más ordenado, reutilizable y fácil de mantener o cambiar en el futuro. </a:t>
            </a:r>
            <a:endParaRPr sz="135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972325" y="4182750"/>
            <a:ext cx="4448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99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DTO’s</a:t>
            </a:r>
            <a:endParaRPr b="1" sz="1950">
              <a:solidFill>
                <a:srgbClr val="FF99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488400" y="4605025"/>
            <a:ext cx="47301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</a:rPr>
              <a:t>Separa la lógica de acceso a datos de la lógica de negocio, de modo que la aplicación no dependa directamente de cómo se guarda o consulta la información. Esto hace el código más ordenado, reutilizable y fácil de mantener o cambiar en el futuro. </a:t>
            </a:r>
            <a:endParaRPr sz="135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/>
          <p:nvPr/>
        </p:nvSpPr>
        <p:spPr>
          <a:xfrm>
            <a:off x="771525" y="3990975"/>
            <a:ext cx="10648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710297" y="4295775"/>
            <a:ext cx="25715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Ramas Feature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771525" y="4610100"/>
            <a:ext cx="244911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Desarrollo aislado para cada componente backend y la UI frontend en ramas propias.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3443525" y="2472779"/>
            <a:ext cx="25715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Pull Requests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3504753" y="2787104"/>
            <a:ext cx="244911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Revisiones técnicas estrictas de puertos y configuraciones de YAML.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176754" y="4295775"/>
            <a:ext cx="25715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Rama Develop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237982" y="4610100"/>
            <a:ext cx="244911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Consolidación de código integrado para las pruebas locales completas en K8s.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8909982" y="2472779"/>
            <a:ext cx="25715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Rama Main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971210" y="2787104"/>
            <a:ext cx="244911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Lanzamiento seguro de la versión estable y funcional para el despliegue.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Estrategia Git Flow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900832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634061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367289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10100518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2238375" y="2690812"/>
            <a:ext cx="8143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Validación de Lógica Crítica: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Pruebas unitarias de aislamiento en procesos de negocio como la asignación de fondos en </a:t>
            </a:r>
            <a:r>
              <a:rPr b="0" i="0" lang="en-US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ms-donation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2238375" y="3443287"/>
            <a:ext cx="8143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Garantizada: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Comprobación sistemática del flujo de autenticación, </a:t>
            </a:r>
            <a:r>
              <a:rPr lang="en-US" sz="13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 firmas JWT y accesos en el servicio </a:t>
            </a:r>
            <a:r>
              <a:rPr b="0" i="0" lang="en-US" sz="13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ms-auth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2238375" y="4195762"/>
            <a:ext cx="8143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Limpia: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Prevención de compilación de artefactos Docker defectuosos mediante la verificación de pruebas locales automatizadas antes del despliegue.</a:t>
            </a:r>
            <a:endParaRPr/>
          </a:p>
        </p:txBody>
      </p:sp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375" y="2705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7375" y="34575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57375" y="4210050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Aseguramiento de Calidad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2238375" y="2690812"/>
            <a:ext cx="814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2238375" y="4195762"/>
            <a:ext cx="814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14400" y="581025"/>
            <a:ext cx="1103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Tipos de pruebas.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71525" y="581025"/>
            <a:ext cx="47700" cy="44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488" y="1338882"/>
            <a:ext cx="5133974" cy="232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738" y="1382582"/>
            <a:ext cx="5133974" cy="232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488" y="4035082"/>
            <a:ext cx="5133974" cy="232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7738" y="4071432"/>
            <a:ext cx="5133974" cy="232588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1047750" y="1476625"/>
            <a:ext cx="472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Unitarias</a:t>
            </a:r>
            <a:endParaRPr b="1" sz="32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1013100" y="2088750"/>
            <a:ext cx="4797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</a:rPr>
              <a:t>verifican la lógica de cada componente de forma aislada.</a:t>
            </a:r>
            <a:r>
              <a:rPr lang="en-US" sz="23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</a:rPr>
              <a:t>(JUnit5 - Mockito)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6729100" y="1476625"/>
            <a:ext cx="472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Integración de datos</a:t>
            </a:r>
            <a:endParaRPr b="1" sz="3200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974475" y="4136000"/>
            <a:ext cx="472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Arranque</a:t>
            </a:r>
            <a:endParaRPr b="1" sz="3200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729100" y="4136000"/>
            <a:ext cx="472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1" sz="32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6729100" y="2269138"/>
            <a:ext cx="472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Comprueban el acceso y comportamiento con la base de datos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(Spring Boot Test - Spring Data JPA Test)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974475" y="4803425"/>
            <a:ext cx="4728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Validan que cada módulo inicia correctamente el contexto del spring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(Spring Boot Test “@SpringBootTest”)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660725" y="4813100"/>
            <a:ext cx="4728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Confirman que los formularios y validaciones del front se muestran y funcionan correctamente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(Vitest)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1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1570061" y="2457462"/>
            <a:ext cx="9051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La buena arquitectura no solo resuelve lógica de negocio; se adapta de manera sostenible a las restricciones reales de hardware y de colaboración del equipo de desarrollo.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3752701" y="4795837"/>
            <a:ext cx="4686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1189136" y="2852737"/>
            <a:ext cx="34290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3B82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"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10659815" y="4700587"/>
            <a:ext cx="34290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3B82F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"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914400" y="581025"/>
            <a:ext cx="11031378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Conclusión de Ingeniería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771525" y="581025"/>
            <a:ext cx="47625" cy="4476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505301" y="2315616"/>
            <a:ext cx="1118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Gracias por su atención.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771525" y="3372891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Ecosistema Completo de Microservicios Orquestados en Kubernetes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771525" y="4184302"/>
            <a:ext cx="10648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Evaluación Final Transversal | Duoc UC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